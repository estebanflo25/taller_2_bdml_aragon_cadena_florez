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Modelo 23: ensamble que predice el ingreso del hogar y cuantifica su incertidumbre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200"/>
              <a:t>Especificación: P(pobre) = 0.3 · P_clasificador + 0.7 · P_ingreso; pobre si P ≥ 0.40</a:t>
            </a:r>
          </a:p>
          <a:p>
            <a:r>
              <a:rPr sz="2200"/>
              <a:t>P_clasificador: XGBoost directo sobre variables del hogar (modelo 11)</a:t>
            </a:r>
          </a:p>
          <a:p>
            <a:r>
              <a:rPr sz="2200"/>
              <a:t>P_ingreso: ingreso predicho (ŷ, en logs) promediado de los modelos de personas 17, 20 y 22, calibrado con un logit en z, z/σ y log σ</a:t>
            </a:r>
          </a:p>
          <a:p>
            <a:r>
              <a:rPr sz="2200"/>
              <a:t>σ(x): LightGBM con pérdida L1 sobre |y − ŷ| fuera de muestra</a:t>
            </a:r>
          </a:p>
          <a:p>
            <a:r>
              <a:rPr sz="2200"/>
              <a:t>F1 CV out-of-fold: 0.776 (precisión 0.748, recall 0.806)</a:t>
            </a:r>
          </a:p>
          <a:p>
            <a:r>
              <a:rPr sz="2200"/>
              <a:t>Kaggle: 0.77 en puntaje público y 0.77 en privado</a:t>
            </a:r>
          </a:p>
          <a:p>
            <a:r>
              <a:rPr sz="2200"/>
              <a:t>Mejora de +0.038 de F1 frente al modelo base (02, F1 0.738)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Economía: predecir pobreza vía ingreso conserva lo que la etiqueta 0/1 pierde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5486400" cy="4937760"/>
          </a:xfrm>
        </p:spPr>
        <p:txBody>
          <a:bodyPr wrap="square"/>
          <a:lstStyle/>
          <a:p>
            <a:r>
              <a:rPr sz="2000"/>
              <a:t>Pobre equivale a que el ingreso de las personas quede por debajo de la brecha g del hogar (y &lt; g)</a:t>
            </a:r>
          </a:p>
          <a:p>
            <a:r>
              <a:rPr sz="2000"/>
              <a:t>Un clasificador ve «sí/no»; el regresor ve cuánto falta o sobra</a:t>
            </a:r>
          </a:p>
          <a:p>
            <a:r>
              <a:rPr sz="2000"/>
              <a:t>El problema está en la frontera: los pobres que el modelo base no detectó (FN) se parecen a los no pobres</a:t>
            </a:r>
          </a:p>
          <a:p>
            <a:r>
              <a:rPr sz="2000"/>
              <a:t>Cerca de la línea, la misma predicción de ingreso no implica la misma probabilidad: se necesita 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828800"/>
          <a:ext cx="5394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sz="130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Detectados 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 detectados (FN)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Educación adultos (años)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8.52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Ocupados / personas 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Cotizantes / ocupados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Horas trabajadas per cápita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19.8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/>
                        <a:t>Menores en el hogar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44805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Modelo base (02): promedios entre pobres detectados (TP) y pobres no detectados (FN).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Economía: el hogar es la unidad económica, por eso agregamos personas a nivel hogar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000"/>
              <a:t>La pobreza se mide con el ingreso per cápita de la unidad de gasto: el ingreso se mancomuna y el gasto se comparte</a:t>
            </a:r>
          </a:p>
          <a:p>
            <a:r>
              <a:rPr sz="2000"/>
              <a:t>Carga demográfica (el denominador): menores, mayores, dependencia, personas por cuarto</a:t>
            </a:r>
          </a:p>
          <a:p>
            <a:r>
              <a:rPr sz="2000"/>
              <a:t>Capacidad de generar ingreso (el numerador): ocupados por persona, horas per cápita</a:t>
            </a:r>
          </a:p>
          <a:p>
            <a:r>
              <a:rPr sz="2000"/>
              <a:t>Calidad del empleo: cotización a pensión, empresa de más de 5 personas, cuenta propia</a:t>
            </a:r>
          </a:p>
          <a:p>
            <a:r>
              <a:rPr sz="2000"/>
              <a:t>Capital humano: educación del jefe y de los adultos</a:t>
            </a:r>
          </a:p>
          <a:p>
            <a:r>
              <a:rPr sz="2000"/>
              <a:t>Proxies de ingreso permanente (arriendo, tenencia) y geografía (dominio, zona rural)</a:t>
            </a:r>
          </a:p>
          <a:p>
            <a:r>
              <a:rPr sz="2000"/>
              <a:t>Ningún ingreso entra como predictor; ~165 mil hogares y ~90 variables construidas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Arquitectura: dos vías que se complementan, clasificar e incertidumbre del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200"/>
              <a:t>Paso 1. Ingreso: modelos de personas (17, 20, 22) → ŷ promedio; z = ŷ − g es la distancia, en logs, a la brecha del hogar</a:t>
            </a:r>
          </a:p>
          <a:p>
            <a:r>
              <a:rPr sz="2200"/>
              <a:t>Paso 2. Incertidumbre: σ(x) con LightGBM L1 de |y − ŷ|; calibración logit P = b0 + b1·z + b2·(z/σ) + b3·log σ</a:t>
            </a:r>
          </a:p>
          <a:p>
            <a:r>
              <a:rPr sz="2200"/>
              <a:t>Paso 3. Decisión: mezcla con el XGBoost clasificador (w = 0.3) y umbral τ = 0.40 que maximiza F1 en OOF</a:t>
            </a:r>
          </a:p>
          <a:p>
            <a:r>
              <a:rPr sz="2200"/>
              <a:t>Vía A: clasificación directa de Pobre (modelo 11)</a:t>
            </a:r>
          </a:p>
          <a:p>
            <a:r>
              <a:rPr sz="2200"/>
              <a:t>Vía B: regresión del ingreso → probabilidad calibrada con 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El rol de σ: la misma distancia a la línea significa cosas distintas según el hogar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760720" cy="5120640"/>
          </a:xfrm>
        </p:spPr>
        <p:txBody>
          <a:bodyPr wrap="square"/>
          <a:lstStyle/>
          <a:p>
            <a:r>
              <a:rPr sz="1700"/>
              <a:t>Si el error fuera normal: P(pobre) = Φ(−z/σ)</a:t>
            </a:r>
          </a:p>
          <a:p>
            <a:r>
              <a:rPr sz="1700"/>
              <a:t>Con z = −0.3: σ = 0.18 (privado) → 0.95; σ = 0.33 (patrón) → 0.82</a:t>
            </a:r>
          </a:p>
          <a:p>
            <a:r>
              <a:rPr sz="1700"/>
              <a:t>σ bajo en asalariados de ingreso regulado (privado, doméstico, jornalero); alto en patrón, sin remuneración y no ocupados</a:t>
            </a:r>
          </a:p>
          <a:p>
            <a:r>
              <a:rPr sz="1700"/>
              <a:t>Cuenta propia (58 mil hogares, 26.9 % pobres) y no ocupados (48 mil, 24.7 %) concentran ~83 % de los pobres</a:t>
            </a:r>
          </a:p>
          <a:p>
            <a:r>
              <a:rPr sz="1700"/>
              <a:t>σ estimado = mediana de |y − ŷ| (L1), no una desviación estándar</a:t>
            </a:r>
          </a:p>
          <a:p>
            <a:r>
              <a:rPr sz="1700"/>
              <a:t>Uso: priorizar la verificación de hogares con σ alto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737360"/>
          <a:ext cx="53035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sz="1300"/>
                        <a:t>Posición del jefe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Hogares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σ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% pobres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Patrón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7.6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Sin remuneración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33.7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No ocupado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47,804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24.7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Cuenta propia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58,084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26.9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Gobierno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7,673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Jornalero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1,977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16.2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Privado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39,344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9.6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/>
                        <a:t>Doméstico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23.2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5303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σ medio fuera de muestra, por posición ocupacional del jefe (train).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Hiperparámetros y validación: por hogar y con σ estimado de forma cruzada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r>
              <a:rPr sz="2000"/>
              <a:t>CV: 5 folds por hogar, estratificados por Pobre, semilla 2026, iguales en todos los modelos</a:t>
            </a:r>
          </a:p>
          <a:p>
            <a:r>
              <a:rPr sz="2000"/>
              <a:t>LightGBM de σ: objetivo L1, 31 hojas, learning rate 0.05, 400 árboles</a:t>
            </a:r>
          </a:p>
          <a:p>
            <a:r>
              <a:rPr sz="2000"/>
              <a:t>min_data_in_leaf 100; feature_fraction 0.8; bagging_fraction 0.8; piso de σ = 0.02</a:t>
            </a:r>
          </a:p>
          <a:p>
            <a:r>
              <a:rPr sz="2000"/>
              <a:t>Variables de σ: las del hogar + ŷ + z; objetivo |y − ŷ| fuera de muestra</a:t>
            </a:r>
          </a:p>
          <a:p>
            <a:r>
              <a:rPr sz="2000"/>
              <a:t>Calibración cruzada: σ y logit se estiman en 4 folds y se aplican al quinto; en test, con todo train</a:t>
            </a:r>
          </a:p>
          <a:p>
            <a:r>
              <a:rPr sz="2000"/>
              <a:t>Ensamble: w en 11 valores (0, 0.1, …, 1), pocos a propósito para no sobreajustar → w = 0.3</a:t>
            </a:r>
          </a:p>
          <a:p>
            <a:r>
              <a:rPr sz="2000"/>
              <a:t>Modelos de personas (17, 20, 22): LightGBM; hiperparámetros en sus scripts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Desempeño y umbral: con ~20 % de pobres se barre τ para maximizar F1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6035040" cy="4937760"/>
          </a:xfrm>
        </p:spPr>
        <p:txBody>
          <a:bodyPr wrap="square"/>
          <a:lstStyle/>
          <a:p>
            <a:r>
              <a:rPr sz="1800"/>
              <a:t>Predecir «nadie es pobre» da ~80 % de accuracy con F1 = 0</a:t>
            </a:r>
          </a:p>
          <a:p>
            <a:r>
              <a:rPr sz="1800"/>
              <a:t>Se evalúa τ de 0.01 a 0.99 y se elige el que maximiza F1 = 2PR/(P+R) sobre la OOF</a:t>
            </a:r>
          </a:p>
          <a:p>
            <a:r>
              <a:rPr sz="1800"/>
              <a:t>El óptimo (0.40) queda bajo 0.5: con clase minoritaria, 0.5 sacrifica recall</a:t>
            </a:r>
          </a:p>
          <a:p>
            <a:r>
              <a:rPr sz="1800"/>
              <a:t>A 0.5 el F1 sería 0.767: la corrección vale +0.009 en este modelo</a:t>
            </a:r>
          </a:p>
          <a:p>
            <a:r>
              <a:rPr sz="1800"/>
              <a:t>τ y w se eligen sobre la misma OOF (leve optimismo). El CV incluye Bogotá y test no; aun así, Kaggle (0.77) es cercano al CV (0.776)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828800"/>
          <a:ext cx="4846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400"/>
                        <a:t>Métrica (OOF)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Valor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0.776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Precisión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0.748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0.806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Umbral 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0.40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Peso del clasificador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% predicho pobre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21.6 %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/>
                        <a:t>% real pobre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20.0 %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Importancia de variables: formalidad, geografía y la propia predicción de ingreso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5760720" cy="4937760"/>
          </a:xfrm>
        </p:spPr>
        <p:txBody>
          <a:bodyPr wrap="square"/>
          <a:lstStyle/>
          <a:p>
            <a:r>
              <a:rPr sz="1800"/>
              <a:t>Importancia por ganancia del LightGBM de σ (qué explica el error de ingreso, no el clasificador)</a:t>
            </a:r>
          </a:p>
          <a:p>
            <a:r>
              <a:rPr sz="1800"/>
              <a:t>Las 15 variables principales suman 78 % de la ganancia</a:t>
            </a:r>
          </a:p>
          <a:p>
            <a:r>
              <a:rPr sz="1800"/>
              <a:t>Auxilio de transporte es la variable individual más importante (16.5 %): la ley lo reserva a quien gana hasta 2 salarios mínimos, así que marca asalariados formales</a:t>
            </a:r>
          </a:p>
          <a:p>
            <a:r>
              <a:rPr sz="1800"/>
              <a:t>Educación y formalidad aparecen; el tamaño del hogar no está entre las 15 primeras de 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53949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300"/>
                        <a:t>Bloque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Ganancia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Variables principales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Formalidad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21.2 %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aux. transporte, empresa &gt;5, prima servicios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Predicción de ingreso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ŷ, z, brecha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Geografía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17.0 %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cat_geo, dominio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Trabajo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horas, posición, oficio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Vivienda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arriendo, arriendo per cápita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Educación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educación media y máxima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Política pública: dejar fuera a un pobre no cuesta lo mismo que incluir a un no pobre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6766560" cy="5120640"/>
          </a:xfrm>
        </p:spPr>
        <p:txBody>
          <a:bodyPr wrap="square"/>
          <a:lstStyle/>
          <a:p>
            <a:r>
              <a:rPr sz="1600"/>
              <a:t>FN = error de exclusión: 19.4 % de los pobres queda sin cubrir (recall 0.806)</a:t>
            </a:r>
          </a:p>
          <a:p>
            <a:r>
              <a:rPr sz="1600"/>
              <a:t>FP = error de inclusión: 25.2 % de los clasificados como pobres no lo es (precisión 0.748)</a:t>
            </a:r>
          </a:p>
          <a:p>
            <a:r>
              <a:rPr sz="1600"/>
              <a:t>Con H0 = «no pobre»: FP es error tipo I y FN es error tipo II</a:t>
            </a:r>
          </a:p>
          <a:p>
            <a:r>
              <a:rPr sz="1600"/>
              <a:t>F1 pesa igual ambos errores; la política no. Si excluir cuesta c veces más, se clasifica pobre si P ≥ 1/(1+c): c = 2 → 0.33; c = 3 → 0.25; τ = 0.40 ≈ c = 1.5 (si hay calibración)</a:t>
            </a:r>
          </a:p>
          <a:p>
            <a:r>
              <a:rPr sz="1600"/>
              <a:t>Contexto: compite con instrumentos como el Sisbén; la restricción presupuestal fija cuántos hogares se cubren</a:t>
            </a:r>
          </a:p>
          <a:p>
            <a:r>
              <a:rPr sz="1600"/>
              <a:t>Lecturas: Coady, Grosh y Hoddinott (2004); Brown, Ravallion y van de Walle (2018)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79" y="2011680"/>
          <a:ext cx="4297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sz="1300"/>
                        <a:t>Por 1,000 hogares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Predicho pobre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Predicho no pobre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Pobre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TP 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FN 39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/>
                        <a:t>No pobre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FP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TN 746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1097280"/>
          </a:xfrm>
        </p:spPr>
        <p:txBody>
          <a:bodyPr/>
          <a:lstStyle/>
          <a:p>
            <a:r>
              <a:rPr sz="3000"/>
              <a:t>Operacionalización: precisión frente a transparencia en una agencia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66160"/>
            <a:ext cx="11247120" cy="3108960"/>
          </a:xfrm>
        </p:spPr>
        <p:txBody>
          <a:bodyPr wrap="square"/>
          <a:lstStyle/>
          <a:p>
            <a:r>
              <a:rPr sz="1700"/>
              <a:t>Recomendación: el ensamble para ordenar y priorizar; un modelo interpretable (logit o scorecard) para comunicar y para casos de frontera</a:t>
            </a:r>
          </a:p>
          <a:p>
            <a:r>
              <a:rPr sz="1700"/>
              <a:t>Los tres mejores modelos puntúan 0.77 en público y privado: +0.004 de F1 en CV no se ve en Kaggle</a:t>
            </a:r>
          </a:p>
          <a:p>
            <a:r>
              <a:rPr sz="1700"/>
              <a:t>Salvaguardas: auditar errores por región y zona rural/urbana, recalibrar periódicamente, proceso de apelación</a:t>
            </a:r>
          </a:p>
          <a:p>
            <a:r>
              <a:rPr sz="1700"/>
              <a:t>Revisión humana de los hogares con σ alto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20624">
                <a:tc>
                  <a:txBody>
                    <a:bodyPr/>
                    <a:lstStyle/>
                    <a:p>
                      <a:r>
                        <a:rPr sz="1400"/>
                        <a:t>Ventajas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Desventajas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F1 CV de 0.738 (base) a 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Opaco: difícil explicarle a un hogar por qué quedó fuera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σ por hogar permite priorizar la verificación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Debido proceso y rendición de cuentas exigen explicabilidad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Aprovecha el ingreso como variable continua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Riesgo de manipulación (Goodhart) si el puntaje define el subsidio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/>
                        <a:t>Produce probabilidades, no solo etiquetas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Mantenimiento: varios modelos, reentrenamiento, deriva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