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595"/>
  </p:normalViewPr>
  <p:slideViewPr>
    <p:cSldViewPr snapToGrid="0" snapToObjects="1">
      <p:cViewPr>
        <p:scale>
          <a:sx n="101" d="100"/>
          <a:sy n="101" d="100"/>
        </p:scale>
        <p:origin x="102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960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equipo y la pregunta central del taller: cuál es el mejor modelo para predecir la pobreza y qué implica para la política pública.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obligatoria. Mensaje: el mejor modelo combina un clasificador de hogar con un modelo que predice el ingreso de cada persona y lo compara con la línea del DANE. Kaggle público 0.77 (Kaggle muestra dos decimales). F1 de validación cruzada 0.776 en 165 mil hogares. Con umbral 0.40: precisión 74.8%, recall 80.6%. Fuentes: 23_ensamble_sigma.R (ensamble_sigma.rds) y el leaderboard.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 de la figura: 02_EDA/02_fig_desbalance.R. Mensaje: con 20% de pobres, un modelo que diga 'nadie es pobre' acierta 80% pero no encuentra a nadie (F1 = 0). Por eso evaluamos con F1 y elegimos el umbral con predicciones fuera de muestra. No rebalanceamos: hay 33 mil pobres, y el CART con up-sampling no mejoró (F1 0.702 vs 0.704, script 04_cart.R). Test no tiene hogares de Bogotá: reportamos también el F1 sin Bogotá.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01_Data/05_bases_ingreso.R. Regla: el hogar es pobre si el ingreso de las personas de la unidad de gasto (S) más el arriendo imputado (R) está por debajo de Lp × Npersug. G = Lp × Npersug − R se calcula en train y test; solo S es desconocido. La regla reproduce Pobre en el 99.9% de los hogares de train. Para ~9% de los hogares el arriendo imputado ya cubre la línea (G ≤ 0) y casi ninguno es pobre. Figura: 02_EDA/10_fig_arriendo_linea.R: el arriendo por persona como % de la línea separa a pobres (mediana 25%) de no pobres (54%).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Figuras: 02_EDA/07_fig_dependencia.R y 02_EDA/06_fig_educ_formalidad.R. Lectura: (1) con dos menores, pasar de 0 a 2 ocupados baja la pobreza de 65% a 21%; (2) con jefe de secundaria, la pobreza es 34% si nadie cotiza y 11% si todos cotizan: la educación protege a través del empleo formal. Estas interacciones (no linealidades) son las que los árboles capturan y una regresión lineal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Scripts: 11_xgb_aleatoriedad.R (clasificador), 17/20/22 (modelos de ingreso de personas), 23_ensamble_sigma.R (sigma, calibración y ensamble). El ingreso de las personas es un objetivo auxiliar que solo existe en train; nunca es predictor. Cada persona hereda el fold de su hogar para no filtrar información. z mide qué tan por encima o por debajo de la brecha queda el ingreso predicho; sigma es el error esperado de esa predicción, estimado con otro LightGBM.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las cifras salen de los .rds de 03_Output/Models (columna F1 de cada resumen) y de kaggle_scores.csv. Protocolo común: 5 folds estratificados (semilla 2026), los mismos para todos los modelos; para los modelos de personas, cada persona hereda el fold de su hogar; el umbral se elige con predicciones fuera de muestra. Búsqueda de hiperparámetros por grilla, en etapas: primero estructura (profundidad, hojas mínimas, número de árboles), luego aleatoriedad (submuestreo de filas y columnas).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Tabla: objeto comparacion de ensamble_sigma.rds (script 23). Lectura: (1) el modelo de ingreso aprende toda la escala del ingreso (distingue al que gana 99% de la línea del que gana 10%), el clasificador solo de qué lado de la línea está el hogar; (2) promediar tres modelos de personas que se equivocan distinto baja el error de predicción del ingreso (MAE en log de 0.333 a 0.326); (3) sigma: la misma distancia a la línea no significa lo mismo para un asalariado formal (ingreso predecible) que para un cuenta propia. Sigma suma +0.0013 en la versión con un solo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objeto importancia de xgb_aleatoriedad.rds (script 11) y de lgb_ingreso_personas.rds (script 17). La importancia es la participación de cada variable en la reducción total de la pérdida. Lectura: el clasificador se apoya en el valor de la vivienda por persona y en las horas trabajadas; el modelo de personas, en la posición ocupacional y la edad (ciclo de vida del ingreso). Recibir arriendos o pensiones es protector en ambos. Arriendo por persona y su logaritmo son la misma información: juntas suman 25%.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figura la genera el bloque propuesto para el final de 23_ensamble_sigma.R (sección 6.2). Valores de la prueba: patrón 0.33, sin remuneración 0.30, no ocupado 0.29, cuenta propia 0.26, gobierno 0.23, jornalero 0.19, privado 0.18, doméstico 0.17. Lectura: el ingreso de asalariados es predecible; el de independientes e informales no. Sigma hace que el modelo sea más cauto cerca de la línea en esos hogares. Implicación de política: los errores se concentran donde el ingreso también es más difícil de verificar en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Cifras: curva de ensamble_sigma.rds (script 23). Con umbral 0.40: 26,632 pobres bien clasificados, 6,392 pobres excluidos (subcobertura 19.4%), 8,952 no pobres incluidos (filtración: 25.2% de los beneficiarios). El F1 pesa igual ambos errores. Un programa de transferencias suele temer más excluir a un pobre: con umbral 0.30, recall 86.5% y precisión 69.2%, con un F1 de 0.769 (solo 0.007 menos). La figura se genera con el bloque propuesto para 23_ensamble_sigma.R (sección 6.1).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Figura: 02_EDA/09_fig_preguntas_binarias.R (preguntas de sí/no, baratas). Costo del mejor modelo: necesita el módulo laboral completo de cada persona (posición ocupacional, horas, oficio, cotización, ingresos no laborales) y el arriendo autorreportado (P5130), que es fácil de manipular si el hogar sabe que define un subsidio. Referencia barata: el LPM parsimonioso con 18 variables del hogar (01_lpm.R) logra F1 0.656, unos 12 puntos menos. Recomendación: instrumento en dos etapas.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48840"/>
            <a:ext cx="10360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 es pobre? Nuestro mejor modelo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3375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2 — best_equipo_01 · Best Model Deep Dive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035040" y="3913632"/>
            <a:ext cx="118872" cy="118872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" name="Text 3"/>
          <p:cNvSpPr txBox="1"/>
          <p:nvPr/>
        </p:nvSpPr>
        <p:spPr>
          <a:xfrm>
            <a:off x="914400" y="41605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y Machine Learning para Economía Aplicada (MECA 4107) · Universidad de los Andes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58064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01 · [Nombres del equipo]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55448" cy="155448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Text 1"/>
          <p:cNvSpPr txBox="1"/>
          <p:nvPr/>
        </p:nvSpPr>
        <p:spPr>
          <a:xfrm>
            <a:off x="749808" y="3840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 Overview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del mejor modelo y puntaje en Kaggle — antes de entrar en la metodología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 4107 · Big Data y Machine Learning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22960" y="146304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Text 6"/>
          <p:cNvSpPr txBox="1"/>
          <p:nvPr/>
        </p:nvSpPr>
        <p:spPr>
          <a:xfrm>
            <a:off x="1051560" y="160020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leaderboard público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19202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5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= 0.77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25146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ENS_clas_0_3_personas_17_20_22_sigma_umbral_0_4.csv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16552" y="146304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E6F3EE"/>
          </a:solidFill>
          <a:ln w="12700">
            <a:solidFill>
              <a:srgbClr val="E6F3EE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Text 10"/>
          <p:cNvSpPr txBox="1"/>
          <p:nvPr/>
        </p:nvSpPr>
        <p:spPr>
          <a:xfrm>
            <a:off x="4645152" y="160020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validación cruzada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645152" y="19202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0.776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4645152" y="25146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folds · 164,960 hogares · predicciones fuera de muestra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010144" y="146304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Text 14"/>
          <p:cNvSpPr txBox="1"/>
          <p:nvPr/>
        </p:nvSpPr>
        <p:spPr>
          <a:xfrm>
            <a:off x="8238744" y="160020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clasificación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238744" y="19202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55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0.40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8238744" y="25146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74.8% · Recall 80.6%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22960" y="347472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1" name="Text 18"/>
          <p:cNvSpPr txBox="1"/>
          <p:nvPr/>
        </p:nvSpPr>
        <p:spPr>
          <a:xfrm>
            <a:off x="1051560" y="35204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p(pobre) = 0.3 × </a:t>
            </a:r>
            <a:r>
              <a:rPr lang="en-US" sz="1500" b="1" dirty="0">
                <a:solidFill>
                  <a:srgbClr val="3A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de clasificación del hogar</a:t>
            </a: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0.7 × </a:t>
            </a:r>
            <a:r>
              <a:rPr lang="en-US" sz="1500" b="1" dirty="0">
                <a:solidFill>
                  <a:srgbClr val="0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ingreso de las personas</a:t>
            </a: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 LightGBM Tweedie, calibrado con incertidumbre por hogar)  →  pobre si p ≥ 0.40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6634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Ganó el modelo que usa la regla del DANE: estimar cuánto ingreso le falta a cada hogar para cruzar la línea, no solo si es pobre. La señal más fuerte es cómo trabajan sus miembros —posición ocupacional, horas y formalidad— y el valor de la vivienda.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resto de la presentación: qué revelaron los datos, cómo se entrenó el modelo, por qué ganó y qué implica para focalizar un programa.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55448" cy="155448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Text 1"/>
          <p:cNvSpPr txBox="1"/>
          <p:nvPr/>
        </p:nvSpPr>
        <p:spPr>
          <a:xfrm>
            <a:off x="749808" y="3840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de cada 5 hogares es pobre: el desbalance define la métrica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entrenamiento: 164,960 hogares · 543,109 personas · DANE (MESE)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 4107 · Big Data y Machine Learning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  <p:pic>
        <p:nvPicPr>
          <p:cNvPr id="8" name="Image 0" descr="fig_desbala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17345"/>
            <a:ext cx="6766560" cy="38061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543800" y="155448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Decir “nadie es pobre” acierta el 80% de las veces, pero su F1 es 0.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eso: F1 como métrica y umbral elegido con predicciones fuera de muestra (0.40, no 0.50).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rebalanceamos la muestra: con 33 mil pobres no hay escasez de la clase positiva; el CART con up-sampling no mejoró (F1 0.702 vs 0.704).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pobreza rural es 30%: la geografía también entra al modelo.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55448" cy="155448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Text 1"/>
          <p:cNvSpPr txBox="1"/>
          <p:nvPr/>
        </p:nvSpPr>
        <p:spPr>
          <a:xfrm>
            <a:off x="749808" y="3840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regla del DANE: ser pobre es quedar por debajo de una brecha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observamos en test permite calcular la línea que debe superar cada hogar; solo falta su ingreso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 4107 · Big Data y Machine Learning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Text 6"/>
          <p:cNvSpPr txBox="1"/>
          <p:nvPr/>
        </p:nvSpPr>
        <p:spPr>
          <a:xfrm>
            <a:off x="685800" y="1645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Pobre = 1  ⇔  S &lt; G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55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 = Lp × Npersug − R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78892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50" b="1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</a:t>
            </a: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de las personas de la unidad de gasto (no está en test).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50" b="1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</a:t>
            </a: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arriendo imputado a propietarios y usufructuarios (P5130), conocido en train y test.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50" b="1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G: </a:t>
            </a: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les falta para no ser pobres. La regla reproduce Pobre en el 99.9% de los hogares.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9% de los hogares el arriendo imputado ya cubre la línea: casi ninguno es pobre.</a:t>
            </a:r>
            <a:endParaRPr lang="en-US" sz="1350" dirty="0"/>
          </a:p>
        </p:txBody>
      </p:sp>
      <p:pic>
        <p:nvPicPr>
          <p:cNvPr id="12" name="Image 0" descr="fig_arriendo_line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871663"/>
            <a:ext cx="5943600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55448" cy="155448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Text 1"/>
          <p:cNvSpPr txBox="1"/>
          <p:nvPr/>
        </p:nvSpPr>
        <p:spPr>
          <a:xfrm>
            <a:off x="749808" y="3840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Bocas frente a manos, y empleo formal: los priors se confirman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humano solo protege con empleo formal; cada menor adicional exige un ocupado más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 4107 · Big Data y Machine Learning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  <p:pic>
        <p:nvPicPr>
          <p:cNvPr id="8" name="Image 0" descr="fig_dependenc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00175"/>
            <a:ext cx="5669280" cy="3188970"/>
          </a:xfrm>
          <a:prstGeom prst="rect">
            <a:avLst/>
          </a:prstGeom>
        </p:spPr>
      </p:pic>
      <p:pic>
        <p:nvPicPr>
          <p:cNvPr id="9" name="Image 1" descr="fig_educ_formalida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00175"/>
            <a:ext cx="5669280" cy="318897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57200" y="480060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Text 6"/>
          <p:cNvSpPr txBox="1"/>
          <p:nvPr/>
        </p:nvSpPr>
        <p:spPr>
          <a:xfrm>
            <a:off x="640080" y="4846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dos menores, pasar de 0 a 2 ocupados baja la pobreza de 65% a 21%.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291072" y="480060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E6F3EE"/>
          </a:solidFill>
          <a:ln w="12700">
            <a:solidFill>
              <a:srgbClr val="E6F3EE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Text 8"/>
          <p:cNvSpPr txBox="1"/>
          <p:nvPr/>
        </p:nvSpPr>
        <p:spPr>
          <a:xfrm>
            <a:off x="6473952" y="4846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con secundaria: 34% de pobreza si nadie cotiza, 11% si todos cotizan.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Interacciones como estas son las que capturan los árboles y no una especificación lineal sin términos cruzados.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55448" cy="155448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Text 1"/>
          <p:cNvSpPr txBox="1"/>
          <p:nvPr/>
        </p:nvSpPr>
        <p:spPr>
          <a:xfrm>
            <a:off x="749808" y="3840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Arquitectura: dos formas de mirar el mismo hogar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salida final es una probabilidad de ser pobre, calibrada con Pobre y clasificada con un umbral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 4107 · Big Data y Machine Learning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Text 6"/>
          <p:cNvSpPr txBox="1"/>
          <p:nvPr/>
        </p:nvSpPr>
        <p:spPr>
          <a:xfrm>
            <a:off x="640080" y="1572768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A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 del hogar — XGBoost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variables del hogar · aprende directamente pobre / no pobre · profundidad 6, 800 árboles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A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CV solo: 0.760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29184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E6F3EE"/>
          </a:solidFill>
          <a:ln w="12700">
            <a:solidFill>
              <a:srgbClr val="E6F3EE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Text 8"/>
          <p:cNvSpPr txBox="1"/>
          <p:nvPr/>
        </p:nvSpPr>
        <p:spPr>
          <a:xfrm>
            <a:off x="640080" y="3401568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ingreso de las personas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LightGBM Tweedie predicen el ingreso de cada persona (todo, con columnas crudas y pesos, y por componente) · se suma por hogar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CV solo: 0.775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800600" y="4096512"/>
            <a:ext cx="548640" cy="411480"/>
          </a:xfrm>
          <a:prstGeom prst="rightArrow">
            <a:avLst/>
          </a:prstGeom>
          <a:solidFill>
            <a:srgbClr val="0F7A5C"/>
          </a:solidFill>
          <a:ln w="12700">
            <a:solidFill>
              <a:srgbClr val="0F7A5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Shape 10"/>
          <p:cNvSpPr/>
          <p:nvPr/>
        </p:nvSpPr>
        <p:spPr>
          <a:xfrm>
            <a:off x="5486400" y="329184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 w="12700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4" name="Text 11"/>
          <p:cNvSpPr txBox="1"/>
          <p:nvPr/>
        </p:nvSpPr>
        <p:spPr>
          <a:xfrm>
            <a:off x="5623560" y="3401568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a la línea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log(Ŝ / línea) − log(G / línea)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error esperado de Ŝ (otro LightGBM)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P(pobre) en z, z/σ y log σ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549640" y="4096512"/>
            <a:ext cx="548640" cy="411480"/>
          </a:xfrm>
          <a:prstGeom prst="rightArrow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6" name="Shape 13"/>
          <p:cNvSpPr/>
          <p:nvPr/>
        </p:nvSpPr>
        <p:spPr>
          <a:xfrm>
            <a:off x="4800600" y="2029968"/>
            <a:ext cx="4297680" cy="411480"/>
          </a:xfrm>
          <a:prstGeom prst="rightArrow">
            <a:avLst/>
          </a:prstGeom>
          <a:solidFill>
            <a:srgbClr val="3A5E8C"/>
          </a:solidFill>
          <a:ln w="12700">
            <a:solidFill>
              <a:srgbClr val="3A5E8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Shape 14"/>
          <p:cNvSpPr/>
          <p:nvPr/>
        </p:nvSpPr>
        <p:spPr>
          <a:xfrm>
            <a:off x="9235440" y="1463040"/>
            <a:ext cx="2514600" cy="3840480"/>
          </a:xfrm>
          <a:prstGeom prst="roundRect">
            <a:avLst>
              <a:gd name="adj" fmla="val 2909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8" name="Text 15"/>
          <p:cNvSpPr txBox="1"/>
          <p:nvPr/>
        </p:nvSpPr>
        <p:spPr>
          <a:xfrm>
            <a:off x="9372600" y="237744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0.3 · p_clas + 0.7 · p_ingreso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pobre si p ≥ 0.40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CV 0.776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585216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ingreso de las personas solo existe en train y se usa como objetivo auxiliar, nunca como predictor. La pieza de ingreso se convierte en probabilidad con un logit estimado sobre Pobre.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55448" cy="155448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Text 1"/>
          <p:cNvSpPr txBox="1"/>
          <p:nvPr/>
        </p:nvSpPr>
        <p:spPr>
          <a:xfrm>
            <a:off x="749808" y="3840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Entrenamiento: cada paso validado con los mismos 5 folds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llegamos al mejor modelo · F1 de validación cruzada (164,960 hogares)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 4107 · Big Data y Machine Learning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365760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65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cambió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CV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Logit (referencia)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 predictores del hogar, sin penalizar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de clasificación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09–11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Grilla: profundidad 3/6/8, eta 0.05/0.1, hojas mín. 5/20/50, submuestreo de filas y columnas, 200–1,200 árboles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 del hogar (XGBoost)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13, 15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del ingreso y comparación con la brecha exacta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 de cada persona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16, 17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Tweedie a nivel persona y suma por hogar (XGBoost → LightGBM)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Variantes de personas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20, 22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Columnas crudas y pesos cerca de la línea; un modelo por componente del ingreso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0.768 / 0.767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 + personas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 de probabilidades, pesos de a 0.1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modelo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 de 17+20+22 e incertidumbre (sigma) por hogar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52578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Hiperparámetros del mejor modelo — XGBoost: profundidad 6, peso mínimo de hoja 20, eta 0.05, 800 árboles, 80% de filas y 70% de columnas por árbol. LightGBM de personas: pérdida Tweedie (1.5), 63 hojas, eta 0.05–0.1, 800–2,200 árboles. Sigma: LightGBM L1, 31 hojas, 400 árboles.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55448" cy="155448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Text 1"/>
          <p:cNvSpPr txBox="1"/>
          <p:nvPr/>
        </p:nvSpPr>
        <p:spPr>
          <a:xfrm>
            <a:off x="749808" y="3840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ganó? Cada pieza de información suma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del componente de ingreso, ensambladas con el mismo clasificador · F1 de validación cruzada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 4107 · Big Data y Machine Learning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6583680" cy="30175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 de ingreso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solo ingreso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 del clasificador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ensamble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17, sin sigma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17, con sigma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+ 20, con sigma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+ 20 + 22, sin sigma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+ 20 + 22, con sigma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7315200" y="1508760"/>
            <a:ext cx="4434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escala del ingreso: </a:t>
            </a:r>
            <a:r>
              <a:rPr lang="en-US" sz="14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ingreso distingue a quien gana 99% de la línea de quien gana 10%; el clasificador solo ve de qué lado está.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Promediar modelos que se equivocan distinto </a:t>
            </a:r>
            <a:r>
              <a:rPr lang="en-US" sz="14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el error del ingreso predicho (MAE en log: 0.333 → 0.326).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Incertidumbre por hogar: </a:t>
            </a:r>
            <a:r>
              <a:rPr lang="en-US" sz="14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distancia a la línea pesa distinto para un asalariado formal que para un cuenta propia.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8463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clasificador conserva un peso de 0.2–0.4 en todas las versiones: aporta información del hogar que el modelo de personas no ve.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55448" cy="155448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Text 1"/>
          <p:cNvSpPr txBox="1"/>
          <p:nvPr/>
        </p:nvSpPr>
        <p:spPr>
          <a:xfrm>
            <a:off x="749808" y="3840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Importancia de variables: el mercado laboral manda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en la ganancia total de cada modelo (%), 8 variables principales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 4107 · Big Data y Machine Learning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5440680" cy="3785616"/>
        </p:xfrm>
        <a:graphic>
          <a:graphicData uri="http://schemas.openxmlformats.org/drawingml/2006/table">
            <a:tbl>
              <a:tblPr/>
              <a:tblGrid>
                <a:gridCol w="4434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Clasificador del hogar (XGBoost)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Arriendo por persona (nivel y log)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trabajadas por persona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Recibe arriendos o pensiones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Ocupados que cotizan a pensión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Ocupados / personas del hogar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Tenencia de la vivienda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Proporción de ocupados que cotizan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Miembros en régimen subsidiado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1463040"/>
          <a:ext cx="5440680" cy="3785616"/>
        </p:xfrm>
        <a:graphic>
          <a:graphicData uri="http://schemas.openxmlformats.org/drawingml/2006/table">
            <a:tbl>
              <a:tblPr/>
              <a:tblGrid>
                <a:gridCol w="4434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 de cada persona (LightGBM)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Posición ocupacional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Recibe arriendos o pensiones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menor de 18 años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Recibe otros ingresos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trabajadas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 laboral siendo no ocupado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Oficio (2 dígitos)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457200" y="544068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Text 6"/>
          <p:cNvSpPr txBox="1"/>
          <p:nvPr/>
        </p:nvSpPr>
        <p:spPr>
          <a:xfrm>
            <a:off x="640080" y="5468112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modelos coinciden con la teoría: cómo trabajan los miembros del hogar (posición, horas, formalidad) y el valor de la vivienda; los ingresos no laborales protegen.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55448" cy="155448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Text 1"/>
          <p:cNvSpPr txBox="1"/>
          <p:nvPr/>
        </p:nvSpPr>
        <p:spPr>
          <a:xfrm>
            <a:off x="749808" y="3840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Diagnóstico: dónde duda el modelo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esperado del ingreso predicho según la posición ocupacional del jefe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 4107 · Big Data y Machine Learning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26680" y="14173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Text 8"/>
          <p:cNvSpPr txBox="1"/>
          <p:nvPr/>
        </p:nvSpPr>
        <p:spPr>
          <a:xfrm>
            <a:off x="7955280" y="15544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difícil de predecir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18745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55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Patrón, cuenta propia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≈ 0.26–0.33 · también no ocupados (0.29)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26680" y="306324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6F3EE"/>
          </a:solidFill>
          <a:ln w="12700">
            <a:solidFill>
              <a:srgbClr val="E6F3EE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5" name="Text 12"/>
          <p:cNvSpPr txBox="1"/>
          <p:nvPr/>
        </p:nvSpPr>
        <p:spPr>
          <a:xfrm>
            <a:off x="7955280" y="32004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fácil de predecir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352044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Asalariados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≈ 0.17–0.18 · empleado privado y doméstico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726680" y="470916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errores se concentran en el trabajo independiente e informal: justo donde el ingreso es más difícil de verificar en campo.</a:t>
            </a:r>
            <a:endParaRPr lang="en-US" sz="13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A435E1E-2C08-771F-51D0-0250D696F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95" y="1417320"/>
            <a:ext cx="7236485" cy="43799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55448" cy="155448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Text 1"/>
          <p:cNvSpPr txBox="1"/>
          <p:nvPr/>
        </p:nvSpPr>
        <p:spPr>
          <a:xfrm>
            <a:off x="749808" y="3840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Filtraciones frente a subcobertura: lo que decide el umbral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del mejor modelo con umbral 0.40 (predicciones fuera de muestra, 164,960 hogares)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 4107 · Big Data y Machine Learning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086600" y="141732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Text 8"/>
          <p:cNvSpPr txBox="1"/>
          <p:nvPr/>
        </p:nvSpPr>
        <p:spPr>
          <a:xfrm>
            <a:off x="7315200" y="15544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Subcobertura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18745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55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de cada 100 pobres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2468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quedan por fuera del programa (recall 80.6%)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086600" y="297180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5" name="Text 12"/>
          <p:cNvSpPr txBox="1"/>
          <p:nvPr/>
        </p:nvSpPr>
        <p:spPr>
          <a:xfrm>
            <a:off x="7315200" y="31089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Filtración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0" y="34290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5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de cada 100 beneficiarios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4023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pobres (precisión 74.8%)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086600" y="457200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pesa igual ambos errores. Si excluir a un pobre cuesta más, conviene bajar el umbral: con 0.30, el recall sube a 86.5% y la precisión baja a 69.2% (F1 0.769, apenas −0.007).</a:t>
            </a:r>
            <a:endParaRPr lang="en-US" sz="13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93E7A89-9275-8C1F-3A65-9838DB67E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" y="1417320"/>
            <a:ext cx="6644640" cy="37376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55448" cy="155448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Text 1"/>
          <p:cNvSpPr txBox="1"/>
          <p:nvPr/>
        </p:nvSpPr>
        <p:spPr>
          <a:xfrm>
            <a:off x="749808" y="3840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¿Se puede usar con una encuesta corta y barata?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modelo necesita frente a lo que una encuesta corta puede verificar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 4107 · Big Data y Machine Learning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  <p:pic>
        <p:nvPicPr>
          <p:cNvPr id="8" name="Image 0" descr="fig_preguntas_binari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4457"/>
            <a:ext cx="6309360" cy="433768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49440" y="1508760"/>
            <a:ext cx="4800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4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modelo es caro: </a:t>
            </a:r>
            <a:r>
              <a:rPr lang="en-US" sz="14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el módulo laboral de cada persona y el arriendo autorreportado, que es fácil de manipular.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4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corta cuesta precisión: </a:t>
            </a:r>
            <a:r>
              <a:rPr lang="en-US" sz="14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LPM con 18 variables del hogar logra F1 0.656, unos 12 puntos menos.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4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</a:t>
            </a:r>
            <a:r>
              <a:rPr lang="en-US" sz="14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inicial con preguntas verificables (cotización, ayudas, vivienda) y el modelo completo o verificación solo para los hogares cerca del umbral.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síntesis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modelo: 0.3 × XGBoost de hogar + 0.7 × modelo de ingreso de las personas con incertidumbre · Kaggle 0.77 · F1 CV 0.776.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Ganó por usar la regla del DANE: predecir cuánto le falta a cada hogar para cruzar la línea, no solo de qué lado está.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más predice la pobreza: posición ocupacional, horas y formalidad del empleo, y el valor de la vivienda.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umbral 0.40 excluye a 19 de cada 100 pobres y 25 de cada 100 beneficiarios no son pobres; el umbral es una decisión de política.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caro de operar: una encuesta corta pierde ~12 puntos de F1; recomendamos un instrumento en dos etapas.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DANE — MESE · Repositorio Taller_2_BDML_Aragon_Cadena_Florez · scripts 01_Data, 02_EDA y 03_Models.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3060</Words>
  <Application>Microsoft Macintosh PowerPoint</Application>
  <PresentationFormat>Widescreen</PresentationFormat>
  <Paragraphs>235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best_equipo_01 — Best Model Deep Dive</dc:title>
  <dc:subject>PptxGenJS Presentation</dc:subject>
  <dc:creator>Equipo 01</dc:creator>
  <cp:lastModifiedBy>Julio Esteban Florez Perez</cp:lastModifiedBy>
  <cp:revision>3</cp:revision>
  <dcterms:created xsi:type="dcterms:W3CDTF">2026-10-26T03:53:49Z</dcterms:created>
  <dcterms:modified xsi:type="dcterms:W3CDTF">2026-10-28T00:21:45Z</dcterms:modified>
</cp:coreProperties>
</file>