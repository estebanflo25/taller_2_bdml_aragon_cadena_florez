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F1 CV (eje desde 0.5)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CV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Logit (06)</c:v>
                </c:pt>
                <c:pt idx="1">
                  <c:v>LPM (06)</c:v>
                </c:pt>
                <c:pt idx="2">
                  <c:v>Logit (08)</c:v>
                </c:pt>
                <c:pt idx="3">
                  <c:v>Modelo 23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</c:v>
                </c:pt>
                <c:pt idx="1">
                  <c:v>0.713</c:v>
                </c:pt>
                <c:pt idx="2">
                  <c:v>0.739</c:v>
                </c:pt>
                <c:pt idx="3">
                  <c:v>0.776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5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F1 con umbral óptimo y con 0.5 (eje desde 0.5)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con umbral óptimo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23</c:v>
                </c:pt>
                <c:pt idx="1">
                  <c:v>18</c:v>
                </c:pt>
                <c:pt idx="2">
                  <c:v>17</c:v>
                </c:pt>
                <c:pt idx="3">
                  <c:v>11</c:v>
                </c:pt>
                <c:pt idx="4">
                  <c:v>RF (08)</c:v>
                </c:pt>
                <c:pt idx="5">
                  <c:v>Logit (08)</c:v>
                </c:pt>
                <c:pt idx="6">
                  <c:v>LPM</c:v>
                </c:pt>
                <c:pt idx="7">
                  <c:v>Logit (06)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0.776</c:v>
                </c:pt>
                <c:pt idx="1">
                  <c:v>0.772</c:v>
                </c:pt>
                <c:pt idx="2">
                  <c:v>0.766</c:v>
                </c:pt>
                <c:pt idx="3">
                  <c:v>0.76</c:v>
                </c:pt>
                <c:pt idx="4">
                  <c:v>0.741</c:v>
                </c:pt>
                <c:pt idx="5">
                  <c:v>0.739</c:v>
                </c:pt>
                <c:pt idx="6">
                  <c:v>0.713</c:v>
                </c:pt>
                <c:pt idx="7">
                  <c:v>0.67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con umbral 0.5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23</c:v>
                </c:pt>
                <c:pt idx="1">
                  <c:v>18</c:v>
                </c:pt>
                <c:pt idx="2">
                  <c:v>17</c:v>
                </c:pt>
                <c:pt idx="3">
                  <c:v>11</c:v>
                </c:pt>
                <c:pt idx="4">
                  <c:v>RF (08)</c:v>
                </c:pt>
                <c:pt idx="5">
                  <c:v>Logit (08)</c:v>
                </c:pt>
                <c:pt idx="6">
                  <c:v>LPM</c:v>
                </c:pt>
                <c:pt idx="7">
                  <c:v>Logit (06)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0.767</c:v>
                </c:pt>
                <c:pt idx="1">
                  <c:v>0.759</c:v>
                </c:pt>
                <c:pt idx="2">
                  <c:v>0.755</c:v>
                </c:pt>
                <c:pt idx="3">
                  <c:v>0.749</c:v>
                </c:pt>
                <c:pt idx="4">
                  <c:v>0.72</c:v>
                </c:pt>
                <c:pt idx="5">
                  <c:v>0.721</c:v>
                </c:pt>
                <c:pt idx="6">
                  <c:v>0.625</c:v>
                </c:pt>
                <c:pt idx="7">
                  <c:v>0.639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5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Best Model Benchmark &amp; Overview: Modelo 23, ensamble con calibración 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r>
              <a:rPr sz="2200"/>
              <a:t>Especificación: P(pobre) = 0.3 · P_clasificador + 0.7 · P_ingreso; pobre si P ≥ 0.40</a:t>
            </a:r>
          </a:p>
          <a:p>
            <a:r>
              <a:rPr sz="2200"/>
              <a:t>Ingreso: ŷ promedio de los modelos de personas 17, 20 y 22, calibrado con z, z/σ y log σ</a:t>
            </a:r>
          </a:p>
          <a:p>
            <a:r>
              <a:rPr sz="2200"/>
              <a:t>F1 CV (OOF) 0.776 · precisión 0.748 · recall 0.806</a:t>
            </a:r>
          </a:p>
          <a:p>
            <a:r>
              <a:rPr sz="2200"/>
              <a:t>Kaggle: 0.77 público y 0.77 privado</a:t>
            </a:r>
          </a:p>
          <a:p>
            <a:r>
              <a:rPr sz="2200"/>
              <a:t>Complejidad: clasificador + 3 modelos de personas + modelo auxiliar de σ, con ajuste cruzado</a:t>
            </a:r>
          </a:p>
          <a:p>
            <a:r>
              <a:rPr sz="2200"/>
              <a:t>Es el estándar contra el que se miden los demás algoritmos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Metodología: un piso de comparación común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r>
              <a:rPr sz="2000"/>
              <a:t>Misma base procesada por hogar (~165 mil hogares) y mismas funciones de 00_utils.R</a:t>
            </a:r>
          </a:p>
          <a:p>
            <a:r>
              <a:rPr sz="2000"/>
              <a:t>Mismos folds: 5 folds por hogar, estratificados por Pobre, semilla 2026 (fun_folds)</a:t>
            </a:r>
          </a:p>
          <a:p>
            <a:r>
              <a:rPr sz="2000"/>
              <a:t>Misma regla de decisión: umbral que maximiza F1 sobre la OOF (grilla 0.01 a 0.99)</a:t>
            </a:r>
          </a:p>
          <a:p>
            <a:r>
              <a:rPr sz="2000"/>
              <a:t>Mismas métricas: F1, precisión y recall con las mismas funciones</a:t>
            </a:r>
          </a:p>
          <a:p>
            <a:r>
              <a:rPr sz="2000"/>
              <a:t>Excepción 1: el Random Forest (08) se evalúa con predicciones OOB (out-of-bag), no con los 5 folds</a:t>
            </a:r>
          </a:p>
          <a:p>
            <a:r>
              <a:rPr sz="2000"/>
              <a:t>Excepción 2: el Modelo 25 elige w y umbral sin Bogotá, porque test no incluye Bogotá</a:t>
            </a:r>
          </a:p>
          <a:p>
            <a:r>
              <a:rPr sz="2000"/>
              <a:t>Elegir entre muchas opciones sobre la misma OOF infla un poco el F1 (~0.001 en las 1,001 combinaciones del modelo 18)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Comparativa general de algoritmos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188720"/>
                <a:gridCol w="1280160"/>
                <a:gridCol w="118872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r>
                        <a:rPr sz="1500"/>
                        <a:t>Algoritmo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F1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Precisión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Umbral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Kaggle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Logit (06)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—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LPM (06)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—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Logit (08)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—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Random Forest (08, OOB)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—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Clasificación XGBoost 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—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Ingreso personas XGBoost (16)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—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Ingreso personas LightGBM (17)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—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Ensamble de 5 (18)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Ensamble con σ (23)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/>
                        <a:t>Ensamble LightGBM monótono + ingreso (25)*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[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[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0.77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F1, precisión y recall sobre la OOF con el umbral óptimo de cada modelo (*el 25 se evalúa sin Bogotá: F1 honesto 0.7766; no es comparable directo con los demás). Kaggle: puntaje público y privado (iguales); «—» = sin puntaje.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Benchmark clásico: ¿hasta dónde llega la econometría tradicional?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5669280" cy="4937760"/>
          </a:xfrm>
        </p:spPr>
        <p:txBody>
          <a:bodyPr wrap="square"/>
          <a:lstStyle/>
          <a:p>
            <a:r>
              <a:rPr sz="1700"/>
              <a:t>LPM: F1 0.713; Logit (06): 0.670; Logit (08): 0.739; Modelo 23: 0.776</a:t>
            </a:r>
          </a:p>
          <a:p>
            <a:r>
              <a:rPr sz="1700"/>
              <a:t>Ventaja: coeficientes interpretables, errores estándar y contraste de hipótesis</a:t>
            </a:r>
          </a:p>
          <a:p>
            <a:r>
              <a:rPr sz="1700"/>
              <a:t>Limitaciones: no linealidades e interacciones (ocupación × educación × formalidad); el LPM predice fuera de [0, 1]</a:t>
            </a:r>
          </a:p>
          <a:p>
            <a:r>
              <a:rPr sz="1700"/>
              <a:t>Usan la etiqueta 0/1 y no el ingreso continuo</a:t>
            </a:r>
          </a:p>
          <a:p>
            <a:r>
              <a:rPr sz="1700"/>
              <a:t>En el modelo 14, el logit recibió peso 0 junto a los XGBoost y el 18 lo excluyó</a:t>
            </a:r>
          </a:p>
          <a:p>
            <a:r>
              <a:rPr sz="1700"/>
              <a:t>A umbral 0.5, el F1 del LPM cae de 0.713 a 0.625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164592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Modelo 18 (subcampeón): diversificar con cinco modelos y 1,001 combinaciones de pesos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6400800" cy="4937760"/>
          </a:xfrm>
        </p:spPr>
        <p:txBody>
          <a:bodyPr wrap="square"/>
          <a:lstStyle/>
          <a:p>
            <a:r>
              <a:rPr sz="1700"/>
              <a:t>Componentes: clasificación XGBoost (11), ingreso del hogar (15), personas XGBoost (16), personas LightGBM (17), Random Forest (08)</a:t>
            </a:r>
          </a:p>
          <a:p>
            <a:r>
              <a:rPr sz="1700"/>
              <a:t>Se probaron las 1,001 combinaciones de pesos de a 0.1 que suman 1</a:t>
            </a:r>
          </a:p>
          <a:p>
            <a:r>
              <a:rPr sz="1700"/>
              <a:t>Mejor ensamble: F1 0.772 (precisión 0.745, recall 0.802, τ 0.38)</a:t>
            </a:r>
          </a:p>
          <a:p>
            <a:r>
              <a:rPr sz="1700"/>
              <a:t>El mejor par tiene el mismo F1 (0.772): los otros tres modelos no aportan</a:t>
            </a:r>
          </a:p>
          <a:p>
            <a:r>
              <a:rPr sz="1700"/>
              <a:t>Ganancia: +0.006 sobre el mejor componente (17) y +0.012 sobre el clasificador (11)</a:t>
            </a:r>
          </a:p>
          <a:p>
            <a:r>
              <a:rPr sz="1700"/>
              <a:t>Cautela: elegir entre 1,001 combinaciones infla el F1 en ~0.001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23760" y="1828800"/>
          <a:ext cx="44805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280160"/>
              </a:tblGrid>
              <a:tr h="420624">
                <a:tc>
                  <a:txBody>
                    <a:bodyPr/>
                    <a:lstStyle/>
                    <a:p>
                      <a:r>
                        <a:rPr sz="1400"/>
                        <a:t>Componente solo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F1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/>
                        <a:t>Random Forest (08)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0.741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/>
                        <a:t>Clasificación XGBoost (11)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0.760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/>
                        <a:t>Ingreso hogar XGBoost (15)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0.760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/>
                        <a:t>Personas XGBoost (16)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0.764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/>
                        <a:t>Personas LightGBM (17)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0.766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/>
                        <a:t>Ensamble de 5 (18)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Modelo 25: el mismo componente de ingreso con otro clasificador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6675120" cy="5120640"/>
          </a:xfrm>
        </p:spPr>
        <p:txBody>
          <a:bodyPr wrap="square"/>
          <a:lstStyle/>
          <a:p>
            <a:r>
              <a:rPr sz="1600"/>
              <a:t>p = w · p_clasificación + (1 − w) · p_ingreso</a:t>
            </a:r>
          </a:p>
          <a:p>
            <a:r>
              <a:rPr sz="1600"/>
              <a:t>p_clasificación: LightGBM monótono por hogar (script 24)</a:t>
            </a:r>
          </a:p>
          <a:p>
            <a:r>
              <a:rPr sz="1600"/>
              <a:t>p_ingreso: el componente de ingreso con σ del Modelo 23</a:t>
            </a:r>
          </a:p>
          <a:p>
            <a:r>
              <a:rPr sz="1600"/>
              <a:t>Frente al 23 cambia solo el clasificador (el XGBoost del 11 por un LightGBM monótono): el ingreso es el mismo</a:t>
            </a:r>
          </a:p>
          <a:p>
            <a:r>
              <a:rPr sz="1600"/>
              <a:t>w (11 valores) y τ (91 valores) se eligen en 4 folds y se aplican al quinto: el «F1 honesto»</a:t>
            </a:r>
          </a:p>
          <a:p>
            <a:r>
              <a:rPr sz="1600"/>
              <a:t>Comparación por fold contra el ensamble ya enviado: diferencia ± error estándar; si |diferencia| &lt; 2 EE, empate estadístico</a:t>
            </a:r>
          </a:p>
          <a:p>
            <a:r>
              <a:rPr sz="1600"/>
              <a:t>Resultado: F1 elegido 0.7772 y honesto 0.7766; la diferencia (0.0006) es el optimismo de elegir w y τ en la misma muestra</a:t>
            </a:r>
          </a:p>
          <a:p>
            <a:r>
              <a:rPr sz="1600"/>
              <a:t>Se evalúa sin Bogotá, porque test no la incluye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6640" y="1828800"/>
          <a:ext cx="4389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</a:tblGrid>
              <a:tr h="502920">
                <a:tc>
                  <a:txBody>
                    <a:bodyPr/>
                    <a:lstStyle/>
                    <a:p>
                      <a:r>
                        <a:rPr sz="1300"/>
                        <a:t>Resultado (script 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Valor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Peso del clasificador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Umbral 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0.41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F1 elegido (sin Bogotá)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0.7772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F1 honesto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0.7766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Diferencia vs. ensamble en Kaggle (± 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[ ]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Kaggle (público / privado)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 / 0.77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Modelo 23 frente al 18: más modelos de ingreso y σ por hogar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760720" cy="5120640"/>
          </a:xfrm>
        </p:spPr>
        <p:txBody>
          <a:bodyPr wrap="square"/>
          <a:lstStyle/>
          <a:p>
            <a:r>
              <a:rPr sz="1600"/>
              <a:t>Un logit solo en z supone la misma varianza del error en todos los hogares; el 23 estima σ(x) y calibra con z, z/σ y log σ</a:t>
            </a:r>
          </a:p>
          <a:p>
            <a:r>
              <a:rPr sz="1600"/>
              <a:t>Dos fuentes de mejora, ambas pequeñas: promediar más modelos de personas (+0.003, de 0.772 a 0.775 sin σ) y σ (+0.001 a +0.002)</a:t>
            </a:r>
          </a:p>
          <a:p>
            <a:r>
              <a:rPr sz="1600"/>
              <a:t>Con el ingreso solo, σ aporta más: +0.004 con el 17 (0.766 a 0.770) y +0.005 con 17+20+22 (0.770 a 0.775)</a:t>
            </a:r>
          </a:p>
          <a:p>
            <a:r>
              <a:rPr sz="1600"/>
              <a:t>Con σ, el ingreso recibe más peso en la mezcla: w del clasificador baja de 0.4 a 0.3</a:t>
            </a:r>
          </a:p>
          <a:p>
            <a:r>
              <a:rPr sz="1600"/>
              <a:t>El 23 elige entre 11 pesos; el 18, entre 1,001</a:t>
            </a:r>
          </a:p>
          <a:p>
            <a:r>
              <a:rPr sz="1600"/>
              <a:t>Total 23 frente a 18: +0.004 en CV; en Kaggle, ambos 0.77</a:t>
            </a:r>
          </a:p>
          <a:p>
            <a:r>
              <a:rPr sz="1600"/>
              <a:t>23 y 25 comparten el componente de ingreso: su diferencia viene solo del clasificador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828800"/>
          <a:ext cx="5394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22960"/>
                <a:gridCol w="822960"/>
                <a:gridCol w="1005840"/>
                <a:gridCol w="822960"/>
              </a:tblGrid>
              <a:tr h="457200">
                <a:tc>
                  <a:txBody>
                    <a:bodyPr/>
                    <a:lstStyle/>
                    <a:p>
                      <a:r>
                        <a:rPr sz="1300"/>
                        <a:t>Modelos de personas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Sin 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Con 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Aporte 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MAE log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0.332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17 + 20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0.329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17 + 20 + 22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0.326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16 + 17 + 20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0.329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16 + 17 + 20 + 22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0.327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47548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F1 del ensamble con el clasificador (OOF).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El impacto del umbral: todos los óptimos quedan entre 0.34 y 0.41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5303520" cy="4937760"/>
          </a:xfrm>
        </p:spPr>
        <p:txBody>
          <a:bodyPr wrap="square"/>
          <a:lstStyle/>
          <a:p>
            <a:r>
              <a:rPr sz="1700"/>
              <a:t>Con ~20 % de pobres, el umbral óptimo siempre queda bajo 0.5</a:t>
            </a:r>
          </a:p>
          <a:p>
            <a:r>
              <a:rPr sz="1700"/>
              <a:t>Ensambles y árboles pierden ~1 punto de F1 al usar 0.5; RF y Logit (08), ~2; LPM, 9</a:t>
            </a:r>
          </a:p>
          <a:p>
            <a:r>
              <a:rPr sz="1700"/>
              <a:t>Un umbral alto sacrifica recall; F1 = 2PR/(P+R) exige equilibrar ambos</a:t>
            </a:r>
          </a:p>
          <a:p>
            <a:r>
              <a:rPr sz="1700"/>
              <a:t>Los modelos predicen 21 a 23 % de hogares pobres (real: 20 %)</a:t>
            </a:r>
          </a:p>
          <a:p>
            <a:r>
              <a:rPr sz="1700"/>
              <a:t>El umbral se elige sobre la misma OOF: leve optimismo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1554480"/>
          <a:ext cx="5943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Conclusión de política: ¿qué modelo recomendaríamos a una agencia del Estado?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40480"/>
            <a:ext cx="11247120" cy="2834640"/>
          </a:xfrm>
        </p:spPr>
        <p:txBody>
          <a:bodyPr wrap="square"/>
          <a:lstStyle/>
          <a:p>
            <a:r>
              <a:rPr sz="1500"/>
              <a:t>De 0.766 (17) a 0.776 (23) hay +0.010 de F1 en CV; Kaggle no distingue 18, 23 y 25 (los tres 0.77). *El 25 (0.777) se evalúa sin Bogotá</a:t>
            </a:r>
          </a:p>
          <a:p>
            <a:r>
              <a:rPr sz="1500"/>
              <a:t>El 18 logra el mismo F1 con 2 modelos que con 5: la parsimonia no cuesta precisión</a:t>
            </a:r>
          </a:p>
          <a:p>
            <a:r>
              <a:rPr sz="1500"/>
              <a:t>Regla: pagar complejidad solo si la ganancia supera el ruido de evaluación</a:t>
            </a:r>
          </a:p>
          <a:p>
            <a:r>
              <a:rPr sz="1500"/>
              <a:t>Recomendación: usar el ML para ordenar y priorizar, y un modelo simple y auditable para comunicar y decidir casos de frontera</a:t>
            </a:r>
          </a:p>
          <a:p>
            <a:r>
              <a:rPr sz="1500"/>
              <a:t>Riesgos: debido proceso y apelación, manipulación (Goodhart), auditoría rural/urbana, deriva y recalibración; revisión humana de σ alto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097280"/>
                <a:gridCol w="1097280"/>
                <a:gridCol w="219456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sz="1400"/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F1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Kaggle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Interpretabilidad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Complejidad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Logit (08)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Baja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LightGBM de personas (17)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Media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Ensamble de 5 (18)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Media a alta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Ensamble con σ (23)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Alta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Ensamble LightGBM monótono + ingreso (25)*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Baja a 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Alta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