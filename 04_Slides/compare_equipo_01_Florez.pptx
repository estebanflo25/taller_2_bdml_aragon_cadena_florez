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4831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la pregunta del deck: qué separa al mejor modelo de las alternativas, en igualdad de condiciones.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obligatoria (misma especificación que el otro deck). Mensaje de este deck: entre los algoritmos de clasificación, el boosting es el mejor (0.760), pero todos los clasificadores de hogar se estancan alrededor de 0.76. El salto a 0.776 viene de agregar información —un modelo del ingreso de cada persona comparado con la línea del DANE—, no de cambiar de algoritmo.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Figura: 02_EDA/05_fig_ciclo_vida.R. Lectura: el efecto de la edad del jefe depende de su situación laboral (interacción); cotizar a pensión aplana la curva cerca de 5%. Razones para esperar que ganen los árboles: (1) la pobreza es un umbral sobre una suma de ingresos, muy no lineal cerca de la línea; (2) interacciones fuertes (edad × situación laboral, menores × ocupados); (3) el ingreso se genera persona a persona, así que un modelo a nivel de persona tiene más información que los resúmenes del hogar; (4) con 165 mil hogares y 85 predictores, la regularización aporta poco.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03_Output/Submissions/kaggle_scores.csv y los .rds de 03_Output/Models (scripts 01 a 11 y 23). Naive Bayes: Florez/01_Scripts/02_modelos_clasificacion_V1.R; completar su F1 público si se subió a Kaggle. Lectura: (1) el boosting gana entre los clasificadores; (2) Elastic Net = Logit: con n ≫ p no hay sobreajuste que corregir; (3) un solo árbol pierde por varianza, el Random Forest la reduce, el boosting además reduce sesgo; (4) Naive Bayes y LPM son los más débiles: el primero supone independencia entre variables muy correlacionadas (todas las de empleo formal), el segundo es lineal. Rebalancear (CART con up-sampling) no ayudó.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Figura: 03_Models/04_cart.R. El árbol encuentra solo las variables que propone la teoría: arriendo por persona, horas trabajadas por persona, proporción de ocupados que cotizan, ingresos por arriendos o pensiones. Pero corta en escalones y es inestable (varianza alta). Random Forest promedia muchos árboles profundos (baja varianza): 0.741. Boosting suma árboles cortos que corrigen los errores de los anteriores (baja sesgo): 0.760. El logit (0.739) queda cerca porque la relación es casi monótona en las variables clave.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ensamble_sigma.rds (script 23), ensamble_personas.rds (script 18) y ens_lgbm_ingreso.rds (script 25). Diferencias pareadas: F1 por fold del mejor menos F1 por fold de cada contendor, con su error estándar. Contendor A pierde 0.0041 (error estándar 0.0008, t ≈ 5): diferencia real. Contendor B empata (−0.0001 ± 0.0007). En Kaggle los tres muestran 0.77: el leaderboard no los distingue.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Tabla: objeto comparacion de ensamble_sigma.rds (script 23); la primera fila reproduce el contendor A (0.772). La brecha de 0.0041 se descompone en: incertidumbre por hogar +0.0013 y promediar más modelos de ingreso de personas +0.0028 (modelo 20 +0.0019; modelo 22 +0.0009). Los dos usan el mismo algoritmo (XGBoost + LightGBM): lo que cambia es cuánta información sobre el ingreso de las personas entra y cómo se convierte en probabilidad.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Contendor B (script 25) cambia solo el clasificador: un LightGBM con 14 restricciones monótonas (más educación, ocupados, cotizantes o vivienda nunca suben la pobreza; más menores o hacinamiento nunca la bajan). Empata con el mejor (−0.0001 ± 0.0007) y clasifica distinto 0.8% de los hogares de test: por eso fue el segundo envío marcado para el leaderboard privado. Lección: con el componente de ingreso adentro, el algoritmo del clasificador ya no importa. La figura la genera el bloque propuesto al final de 25_ensamble_lgbm_ingreso.R.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48840"/>
            <a:ext cx="10360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Siete algoritmos, un ganador: ¿por qué?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3375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2 — compare_equipo_01 · Algorithm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035040" y="3913632"/>
            <a:ext cx="118872" cy="118872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" name="Text 3"/>
          <p:cNvSpPr txBox="1"/>
          <p:nvPr/>
        </p:nvSpPr>
        <p:spPr>
          <a:xfrm>
            <a:off x="914400" y="41605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y Machine Learning para Economía Aplicada (MECA 4107) · Universidad de los Andes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58064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01 · [Nombres del equipo]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55448" cy="155448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Text 1"/>
          <p:cNvSpPr txBox="1"/>
          <p:nvPr/>
        </p:nvSpPr>
        <p:spPr>
          <a:xfrm>
            <a:off x="749808" y="3840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 Overview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del mejor modelo y puntaje en Kaggle — antes de entrar en la comparación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 4107 · Big Data y Machine Learning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22960" y="146304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9" name="Text 6"/>
          <p:cNvSpPr txBox="1"/>
          <p:nvPr/>
        </p:nvSpPr>
        <p:spPr>
          <a:xfrm>
            <a:off x="1051560" y="160020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leaderboard público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19202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5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= 0.77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25146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ENS_clas_0_3_personas_17_20_22_sigma_umbral_0_4.csv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16552" y="146304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E6F3EE"/>
          </a:solidFill>
          <a:ln w="12700">
            <a:solidFill>
              <a:srgbClr val="E6F3EE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Text 10"/>
          <p:cNvSpPr txBox="1"/>
          <p:nvPr/>
        </p:nvSpPr>
        <p:spPr>
          <a:xfrm>
            <a:off x="4645152" y="160020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validación cruzada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645152" y="19202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0.776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4645152" y="25146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0.760 del mejor algoritmo de clasificación solo (XGBoost)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010144" y="146304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Text 14"/>
          <p:cNvSpPr txBox="1"/>
          <p:nvPr/>
        </p:nvSpPr>
        <p:spPr>
          <a:xfrm>
            <a:off x="8238744" y="160020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clasificación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238744" y="19202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55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0.40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8238744" y="25146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74.8% · Recall 80.6%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22960" y="347472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1" name="Text 18"/>
          <p:cNvSpPr txBox="1"/>
          <p:nvPr/>
        </p:nvSpPr>
        <p:spPr>
          <a:xfrm>
            <a:off x="1051560" y="35204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p(pobre) = 0.3 × </a:t>
            </a:r>
            <a:r>
              <a:rPr lang="en-US" sz="1500" b="1" dirty="0">
                <a:solidFill>
                  <a:srgbClr val="3A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de clasificación del hogar</a:t>
            </a: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0.7 × </a:t>
            </a:r>
            <a:r>
              <a:rPr lang="en-US" sz="1500" b="1" dirty="0">
                <a:solidFill>
                  <a:srgbClr val="0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ingreso de las personas</a:t>
            </a: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 LightGBM Tweedie, calibrado con incertidumbre por hogar)  →  pobre si p ≥ 0.40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6634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los algoritmos exigidos gana el boosting, pero todos los clasificadores del hogar se estancan cerca de 0.76. El salto a 0.776 no vino de cambiar de algoritmo sino de agregar información: el ingreso de cada persona, comparado con la línea del DANE.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por qué la forma del problema favorece a los árboles, el resumen de los siete algoritmos y la comparación detallada con los dos modelos más cercanos.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55448" cy="155448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Text 1"/>
          <p:cNvSpPr txBox="1"/>
          <p:nvPr/>
        </p:nvSpPr>
        <p:spPr>
          <a:xfrm>
            <a:off x="749808" y="3840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forma del problema favorece a los árboles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los datos anticipan sobre qué algoritmos deberían funcionar mejor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 4107 · Big Data y Machine Learning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  <p:pic>
        <p:nvPicPr>
          <p:cNvPr id="8" name="Image 0" descr="fig_ciclo_vi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0205"/>
            <a:ext cx="6766560" cy="38061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06640" y="1508760"/>
            <a:ext cx="4343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sobre una suma: </a:t>
            </a:r>
            <a:r>
              <a:rPr lang="en-US" sz="14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pobre si el ingreso cae bajo la línea; la relación es muy no lineal cerca de ella.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Interacciones fuertes: </a:t>
            </a:r>
            <a:r>
              <a:rPr lang="en-US" sz="14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efecto de la edad depende de si el jefe cotiza; el de los menores, del número de ocupados.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ingreso nace en la persona: </a:t>
            </a:r>
            <a:r>
              <a:rPr lang="en-US" sz="14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a nivel persona ve más que los promedios del hogar.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≫ p: </a:t>
            </a:r>
            <a:r>
              <a:rPr lang="en-US" sz="14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 mil hogares y 85 predictores; regularizar debería aportar poco.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55448" cy="155448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Text 1"/>
          <p:cNvSpPr txBox="1"/>
          <p:nvPr/>
        </p:nvSpPr>
        <p:spPr>
          <a:xfrm>
            <a:off x="749808" y="3840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siete algoritmos exigidos, en igualdad de condiciones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especificación de cada algoritmo · mismos 5 folds, mismos predictores base y misma regla de umbral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 4107 · Big Data y Machine Learning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05863"/>
              </p:ext>
            </p:extLst>
          </p:nvPr>
        </p:nvGraphicFramePr>
        <p:xfrm>
          <a:off x="457200" y="1417320"/>
          <a:ext cx="11274552" cy="3438144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especificación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CV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Kaggle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lineal de probabilidad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variables del hogar con interacciones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 = 0.00013 (420 hojas)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 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= 0.9, λ = 0.0003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 predictores, sin penalizar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mtry 65, nodo mínimo 10, 300 árboles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 (XGBoost)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Profundidad 6, eta 0.05, 800 árboles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 + modelo de ingreso (mejor)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Ensamble del script 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5486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muestra el F1 público con dos decimales; con 20–33 mil hogares su ruido (≈ 0.004) supera varias de estas diferencias, por eso se compara con validación cruzada. Rebalancear no ayudó: CART con up-sampling 0.702 (Kaggle 0.69).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55448" cy="155448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Text 1"/>
          <p:cNvSpPr txBox="1"/>
          <p:nvPr/>
        </p:nvSpPr>
        <p:spPr>
          <a:xfrm>
            <a:off x="749808" y="3840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rectas a árboles a boosting: qué gana cada paso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clasificación (CART) estimado sobre la base de entrenamiento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 4107 · Big Data y Machine Learning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  <p:pic>
        <p:nvPicPr>
          <p:cNvPr id="8" name="Image 0" descr="fig_arbo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13483"/>
            <a:ext cx="7223760" cy="4059634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1463040"/>
          <a:ext cx="3931920" cy="251460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CV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árbol: escalones, inestable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Logit / 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Lineal en log-odds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Promedia árboles: menos varianza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 árboles: menos sesgo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7818120" y="42062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árbol encuentra las variables de la teoría (vivienda, horas, formalidad, pensiones), pero en escalones. El boosting las combina suavemente y gana 2 puntos sobre el logit.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55448" cy="155448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Text 1"/>
          <p:cNvSpPr txBox="1"/>
          <p:nvPr/>
        </p:nvSpPr>
        <p:spPr>
          <a:xfrm>
            <a:off x="749808" y="3840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finalistas: misma base, piezas distintas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modelos más cercanos al mejor · mismos hogares, folds, predictores base y regla de umbral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 4107 · Big Data y Machine Learning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3867912"/>
        </p:xfrm>
        <a:graphic>
          <a:graphicData uri="http://schemas.openxmlformats.org/drawingml/2006/table">
            <a:tbl>
              <a:tblPr/>
              <a:tblGrid>
                <a:gridCol w="3044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(script 23)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Contendor A (script 18)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Contendor B (script 25)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Clasificador (peso)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(0.3)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(0.4)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monótono (0.2)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 de ingreso (peso)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+ 20 + 22, con sigma (0.7)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17, sin sigma (0.6)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+ 20 + 22, con sigma (0.8)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Umbral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validación cruzada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Precisión / 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74.8% / 80.6%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74.5% / 80.2%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75.4% / 80.0%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Kaggle (público)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 vs mejor (error est.)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−0.0041 (0.0008)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−0.0001 (0.0007)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Hogares clasificados distinto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5486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pareadas: F1 de cada fold del mejor menos el del contendor, con su error estándar. |diferencia| &gt; 2 errores estándar = diferencia real.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55448" cy="155448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Text 1"/>
          <p:cNvSpPr txBox="1"/>
          <p:nvPr/>
        </p:nvSpPr>
        <p:spPr>
          <a:xfrm>
            <a:off x="749808" y="3840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Contendor A pierde por información, no por algoritmo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contendor A al mejor modelo, agregando una pieza a la vez (mismo clasificador XGBoost)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 4107 · Big Data y Machine Learning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6400800" cy="274320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CV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Contendor A: modelo 17, sin sigma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0.7723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incertidumbre por hogar (sigma)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+0.0013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modelo 20 (columnas crudas y pesos)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0.7755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+0.0019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modelo 22 (un modelo por componente)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178040" y="1463040"/>
            <a:ext cx="4572000" cy="1600200"/>
          </a:xfrm>
          <a:prstGeom prst="roundRect">
            <a:avLst>
              <a:gd name="adj" fmla="val 4571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Text 6"/>
          <p:cNvSpPr txBox="1"/>
          <p:nvPr/>
        </p:nvSpPr>
        <p:spPr>
          <a:xfrm>
            <a:off x="7406640" y="16002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total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7406640" y="19202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55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+0.0041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7406640" y="2514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≈ 5: no es ruido del leaderboard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329184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Promediar modelos de ingreso </a:t>
            </a:r>
            <a:r>
              <a:rPr lang="en-US" sz="14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equivocan distinto aporta +0.0028.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incertidumbre </a:t>
            </a:r>
            <a:r>
              <a:rPr lang="en-US" sz="14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+0.0013: un cuenta propia cerca de la línea no es lo mismo que un asalariado.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Kaggle los dos marcan 0.77: solo la validación cruzada los distingue.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55448" cy="155448"/>
          </a:xfrm>
          <a:prstGeom prst="ellipse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" name="Text 1"/>
          <p:cNvSpPr txBox="1"/>
          <p:nvPr/>
        </p:nvSpPr>
        <p:spPr>
          <a:xfrm>
            <a:off x="749808" y="3840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Contendor B: mismo F1 con un clasificador restringido por la teoría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fuera de muestra (sin Bogotá) según el umbral, para los tres finalistas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 4107 · Big Data y Machine Learning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1508760"/>
            <a:ext cx="4160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cambia el clasificador: </a:t>
            </a:r>
            <a:r>
              <a:rPr lang="en-US" sz="14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con 14 signos económicos impuestos (p. ej., más educación nunca sube la pobreza).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Empate estadístico: </a:t>
            </a:r>
            <a:r>
              <a:rPr lang="en-US" sz="14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−0.0001 con error estándar 0.0007.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como respaldo: </a:t>
            </a:r>
            <a:r>
              <a:rPr lang="en-US" sz="14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distinto 0.8% de los hogares; fue el segundo envío marcado para el leaderboard privado.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400" b="1" dirty="0">
                <a:solidFill>
                  <a:srgbClr val="1E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</a:t>
            </a:r>
            <a:r>
              <a:rPr lang="en-US" sz="14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modelo de ingreso adentro, el algoritmo del clasificador ya no importa.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59BAFD-455A-49C1-4C93-6A172A210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30" y="1508760"/>
            <a:ext cx="7130090" cy="40106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Conclusión: complejidad, interpretabilidad y desempeño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los algoritmos exigidos gana el boosting (0.760): las relaciones con la pobreza son no lineales y con interacciones.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salto a 0.776 vino de información, no de algoritmo: modelar el ingreso de cada persona y compararlo con la línea del DANE.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complejo también es más caro: el mejor modelo necesita el módulo laboral de cada persona; un LPM de 18 variables pierde ~12 puntos de F1.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una agencia no le recomendaríamos necesariamente el de mayor puntaje: un boosting de hogar con restricciones monótonas y variables verificables (F1 0.762) es más barato, auditable y difícil de manipular.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 mayor F1 se justifica donde ya existe la encuesta completa, o para revisar los hogares cercanos al umbral.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repositorio Taller_2_BDML_Aragon_Cadena_Florez · 03_Output/Models y 03_Output/Submissions/kaggle_scores.csv.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2041</Words>
  <Application>Microsoft Macintosh PowerPoint</Application>
  <PresentationFormat>Widescreen</PresentationFormat>
  <Paragraphs>182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compare_equipo_01 — Algorithm Comparison</dc:title>
  <dc:subject>PptxGenJS Presentation</dc:subject>
  <dc:creator>Equipo 01</dc:creator>
  <cp:lastModifiedBy>Julio Esteban Florez Perez</cp:lastModifiedBy>
  <cp:revision>2</cp:revision>
  <dcterms:created xsi:type="dcterms:W3CDTF">2026-10-26T03:53:50Z</dcterms:created>
  <dcterms:modified xsi:type="dcterms:W3CDTF">2026-10-28T00:25:19Z</dcterms:modified>
</cp:coreProperties>
</file>